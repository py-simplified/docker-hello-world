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Open Sans SemiBold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penSa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SemiBold-regular.fntdata"/><Relationship Id="rId8" Type="http://schemas.openxmlformats.org/officeDocument/2006/relationships/font" Target="fonts/OpenSansSemiBold-bold.fntdata"/><Relationship Id="rId11" Type="http://schemas.openxmlformats.org/officeDocument/2006/relationships/font" Target="fonts/OpenSans-regular.fntdata"/><Relationship Id="rId10" Type="http://schemas.openxmlformats.org/officeDocument/2006/relationships/font" Target="fonts/OpenSansSemiBold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4" Type="http://schemas.openxmlformats.org/officeDocument/2006/relationships/font" Target="fonts/Open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22" Type="http://schemas.openxmlformats.org/officeDocument/2006/relationships/image" Target="../media/image15.png"/><Relationship Id="rId21" Type="http://schemas.openxmlformats.org/officeDocument/2006/relationships/image" Target="../media/image21.png"/><Relationship Id="rId24" Type="http://schemas.openxmlformats.org/officeDocument/2006/relationships/image" Target="../media/image22.png"/><Relationship Id="rId23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27.png"/><Relationship Id="rId26" Type="http://schemas.openxmlformats.org/officeDocument/2006/relationships/image" Target="../media/image14.png"/><Relationship Id="rId25" Type="http://schemas.openxmlformats.org/officeDocument/2006/relationships/image" Target="../media/image18.png"/><Relationship Id="rId28" Type="http://schemas.openxmlformats.org/officeDocument/2006/relationships/image" Target="../media/image16.png"/><Relationship Id="rId27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29" Type="http://schemas.openxmlformats.org/officeDocument/2006/relationships/image" Target="../media/image19.png"/><Relationship Id="rId7" Type="http://schemas.openxmlformats.org/officeDocument/2006/relationships/image" Target="../media/image28.png"/><Relationship Id="rId8" Type="http://schemas.openxmlformats.org/officeDocument/2006/relationships/image" Target="../media/image11.png"/><Relationship Id="rId30" Type="http://schemas.openxmlformats.org/officeDocument/2006/relationships/image" Target="../media/image17.png"/><Relationship Id="rId11" Type="http://schemas.openxmlformats.org/officeDocument/2006/relationships/image" Target="../media/image6.png"/><Relationship Id="rId10" Type="http://schemas.openxmlformats.org/officeDocument/2006/relationships/image" Target="../media/image4.png"/><Relationship Id="rId13" Type="http://schemas.openxmlformats.org/officeDocument/2006/relationships/image" Target="../media/image1.png"/><Relationship Id="rId12" Type="http://schemas.openxmlformats.org/officeDocument/2006/relationships/image" Target="../media/image9.png"/><Relationship Id="rId15" Type="http://schemas.openxmlformats.org/officeDocument/2006/relationships/image" Target="../media/image26.png"/><Relationship Id="rId14" Type="http://schemas.openxmlformats.org/officeDocument/2006/relationships/image" Target="../media/image2.png"/><Relationship Id="rId17" Type="http://schemas.openxmlformats.org/officeDocument/2006/relationships/image" Target="../media/image7.png"/><Relationship Id="rId16" Type="http://schemas.openxmlformats.org/officeDocument/2006/relationships/image" Target="../media/image29.png"/><Relationship Id="rId19" Type="http://schemas.openxmlformats.org/officeDocument/2006/relationships/image" Target="../media/image23.png"/><Relationship Id="rId1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52500"/>
            <a:ext cx="11430000" cy="5771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624905"/>
            <a:ext cx="561975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624905"/>
            <a:ext cx="561975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3101280"/>
            <a:ext cx="35686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1550" y="3101280"/>
            <a:ext cx="35687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42399" y="3101280"/>
            <a:ext cx="35686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000" y="5482530"/>
            <a:ext cx="21717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95575" y="5482530"/>
            <a:ext cx="21717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10150" y="5482530"/>
            <a:ext cx="21717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24725" y="5482530"/>
            <a:ext cx="21717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39300" y="5482530"/>
            <a:ext cx="21717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0525" y="3444180"/>
            <a:ext cx="354955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321075" y="3444180"/>
            <a:ext cx="3549699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51924" y="3444180"/>
            <a:ext cx="354955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81000" y="5101530"/>
            <a:ext cx="11430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581025" y="1047750"/>
            <a:ext cx="11087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HSBC's in-house, web-based, AI-integrated solution for scalable testing automation.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581025" y="1247775"/>
            <a:ext cx="110871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User-friendly, system-agnostic, and designed to standardise regression assurance across the enterprise.</a:t>
            </a:r>
            <a:endParaRPr/>
          </a:p>
        </p:txBody>
      </p:sp>
      <p:pic>
        <p:nvPicPr>
          <p:cNvPr descr="image.png" id="101" name="Google Shape;101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221706" y="5192017"/>
            <a:ext cx="666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636293" y="5192017"/>
            <a:ext cx="666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793706" y="5192017"/>
            <a:ext cx="666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598818" y="5192017"/>
            <a:ext cx="666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381000" y="238125"/>
            <a:ext cx="52506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Testing Automation Suite (TAS)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81000" y="580713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Standardising regression assurance across data &amp; systems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809625" y="1720155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B0011"/>
                </a:solidFill>
                <a:latin typeface="Open Sans"/>
                <a:ea typeface="Open Sans"/>
                <a:cs typeface="Open Sans"/>
                <a:sym typeface="Open Sans"/>
              </a:rPr>
              <a:t>Current State — The Risk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571500" y="2748855"/>
            <a:ext cx="5286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Impact: Delayed releases, unstable data quality, high operational risk 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619875" y="1720155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843D"/>
                </a:solidFill>
                <a:latin typeface="Open Sans"/>
                <a:ea typeface="Open Sans"/>
                <a:cs typeface="Open Sans"/>
                <a:sym typeface="Open Sans"/>
              </a:rPr>
              <a:t>Future State — The Standard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6381750" y="2748855"/>
            <a:ext cx="5286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900" u="none" cap="none" strike="noStrike">
                <a:solidFill>
                  <a:srgbClr val="00843D"/>
                </a:solidFill>
                <a:latin typeface="Open Sans"/>
                <a:ea typeface="Open Sans"/>
                <a:cs typeface="Open Sans"/>
                <a:sym typeface="Open Sans"/>
              </a:rPr>
              <a:t> Outcome: Safe system evolution with continuous delivery </a:t>
            </a:r>
            <a:endParaRPr/>
          </a:p>
        </p:txBody>
      </p:sp>
      <p:pic>
        <p:nvPicPr>
          <p:cNvPr descr="image.png" id="111" name="Google Shape;111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0525" y="3139380"/>
            <a:ext cx="35495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044850" y="39585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321075" y="3139380"/>
            <a:ext cx="3549699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975550" y="395853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251924" y="3139380"/>
            <a:ext cx="35495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71500" y="1748730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714375" y="1986379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762000" y="1986855"/>
            <a:ext cx="50958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Manual data checks &amp; inconsistent validation rules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714375" y="2147262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762000" y="2147738"/>
            <a:ext cx="50958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High regression risk across releases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714375" y="2308145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762000" y="2308621"/>
            <a:ext cx="50958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Slow root-cause analysis &amp; limited audit evidence</a:t>
            </a:r>
            <a:endParaRPr/>
          </a:p>
        </p:txBody>
      </p:sp>
      <p:pic>
        <p:nvPicPr>
          <p:cNvPr descr="image.png" id="123" name="Google Shape;123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381750" y="1748730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6524625" y="1986379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6572250" y="1986855"/>
            <a:ext cx="50958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Automated regression validation &amp; codified business rules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6524625" y="2147262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6572250" y="2147738"/>
            <a:ext cx="50958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Deterministic change detection &amp; rapid fault isolation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6524625" y="2308145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6572250" y="2308621"/>
            <a:ext cx="50958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Full audit &amp; traceability</a:t>
            </a:r>
            <a:endParaRPr/>
          </a:p>
        </p:txBody>
      </p:sp>
      <p:pic>
        <p:nvPicPr>
          <p:cNvPr descr="image.png" id="130" name="Google Shape;130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654325" y="322034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 txBox="1"/>
          <p:nvPr/>
        </p:nvSpPr>
        <p:spPr>
          <a:xfrm>
            <a:off x="485775" y="3539430"/>
            <a:ext cx="33590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What happens:</a:t>
            </a: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Automatically identifies if regression occurred.</a:t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485775" y="3958530"/>
            <a:ext cx="33590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585025" y="322034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/>
          <p:nvPr/>
        </p:nvSpPr>
        <p:spPr>
          <a:xfrm>
            <a:off x="4416325" y="3539430"/>
            <a:ext cx="33591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What happens:</a:t>
            </a: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Pinpoints where and why the change happened.</a:t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4416325" y="3958530"/>
            <a:ext cx="335919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6" name="Google Shape;136;p1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1477625" y="3220342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/>
        </p:nvSpPr>
        <p:spPr>
          <a:xfrm>
            <a:off x="8347174" y="3539430"/>
            <a:ext cx="33590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What happens:</a:t>
            </a: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AI-driven execution from requirements to results.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8347174" y="3958530"/>
            <a:ext cx="33590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485775" y="4044255"/>
            <a:ext cx="3359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088"/>
                </a:solidFill>
                <a:latin typeface="Open Sans"/>
                <a:ea typeface="Open Sans"/>
                <a:cs typeface="Open Sans"/>
                <a:sym typeface="Open Sans"/>
              </a:rPr>
              <a:t>DataGuard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4416325" y="4044255"/>
            <a:ext cx="33591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B2C91"/>
                </a:solidFill>
                <a:latin typeface="Open Sans"/>
                <a:ea typeface="Open Sans"/>
                <a:cs typeface="Open Sans"/>
                <a:sym typeface="Open Sans"/>
              </a:rPr>
              <a:t>TrueMatch</a:t>
            </a: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8347174" y="4044255"/>
            <a:ext cx="3359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08513"/>
                </a:solidFill>
                <a:latin typeface="Open Sans"/>
                <a:ea typeface="Open Sans"/>
                <a:cs typeface="Open Sans"/>
                <a:sym typeface="Open Sans"/>
              </a:rPr>
              <a:t>TestStudio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581025" y="4243804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628650" y="4244280"/>
            <a:ext cx="32161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Full dataset comparison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581025" y="4404687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628650" y="4405163"/>
            <a:ext cx="32161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Hash &amp; aggregation checks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581025" y="4565570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628650" y="4566046"/>
            <a:ext cx="32161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Instant Pass / Fail signal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4511575" y="4243804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4559200" y="4244280"/>
            <a:ext cx="3216324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Key-based alignment</a:t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4511575" y="4404687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1" name="Google Shape;151;p13"/>
          <p:cNvSpPr txBox="1"/>
          <p:nvPr/>
        </p:nvSpPr>
        <p:spPr>
          <a:xfrm>
            <a:off x="4559200" y="4405163"/>
            <a:ext cx="3216324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Attribute-level diffs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4511575" y="4565570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4559200" y="4566046"/>
            <a:ext cx="3216324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Detailed variance reports</a:t>
            </a:r>
            <a:endParaRPr/>
          </a:p>
        </p:txBody>
      </p:sp>
      <p:pic>
        <p:nvPicPr>
          <p:cNvPr descr="image.png" id="154" name="Google Shape;154;p1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0839450" y="4053780"/>
            <a:ext cx="8667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3"/>
          <p:cNvSpPr txBox="1"/>
          <p:nvPr/>
        </p:nvSpPr>
        <p:spPr>
          <a:xfrm>
            <a:off x="8442424" y="4243804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8490049" y="4244280"/>
            <a:ext cx="32161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AI converts Requirements → Test Cases</a:t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>
            <a:off x="8442424" y="4404687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8" name="Google Shape;158;p13"/>
          <p:cNvSpPr txBox="1"/>
          <p:nvPr/>
        </p:nvSpPr>
        <p:spPr>
          <a:xfrm>
            <a:off x="8490049" y="4405163"/>
            <a:ext cx="32161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GenAI transforms Cases → SQL queries</a:t>
            </a:r>
            <a:endParaRPr/>
          </a:p>
        </p:txBody>
      </p:sp>
      <p:sp>
        <p:nvSpPr>
          <p:cNvPr id="159" name="Google Shape;159;p13"/>
          <p:cNvSpPr txBox="1"/>
          <p:nvPr/>
        </p:nvSpPr>
        <p:spPr>
          <a:xfrm>
            <a:off x="8442424" y="4565570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8490049" y="4566046"/>
            <a:ext cx="321617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Auto-execution &amp; Result generation</a:t>
            </a:r>
            <a:endParaRPr/>
          </a:p>
        </p:txBody>
      </p:sp>
      <p:pic>
        <p:nvPicPr>
          <p:cNvPr descr="image.png" id="161" name="Google Shape;161;p1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0887075" y="4091880"/>
            <a:ext cx="104775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